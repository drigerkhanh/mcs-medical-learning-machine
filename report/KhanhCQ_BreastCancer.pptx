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8CCF-2DF8-CC03-A862-4DF189252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722010-0771-FB9C-2B97-8CDD52590E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721B-6E6E-13AA-3C2B-F161B9E82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8A80-6C80-41BE-95FE-A7F00C833F91}" type="datetimeFigureOut">
              <a:rPr lang="en-US" smtClean="0"/>
              <a:t>20/02/2025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0E506-DD3F-A2CC-C11E-9692C00AE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8D544-65F9-7CF9-E37F-31ED29589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69EDA-60C2-47AB-8EA5-645E741D1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968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2B4B6-4C26-DAD8-CE0D-2B4B2F3C2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D13C5-802B-12EB-021E-A8849CF2C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60AAD-DB70-6CD4-D59B-DE4F0546B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8A80-6C80-41BE-95FE-A7F00C833F91}" type="datetimeFigureOut">
              <a:rPr lang="en-US" smtClean="0"/>
              <a:t>20/02/2025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9DBAF-F64B-1961-75F2-EFA2A180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0F84E-E6DD-AF92-36EA-E64E0D54F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69EDA-60C2-47AB-8EA5-645E741D1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6D1AC-3B27-CE51-4973-1450DCD3D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F22D-A9A4-E979-E441-03EC7FDF3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4A1A3-1250-7CE5-BC6D-E23C33CAA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8A80-6C80-41BE-95FE-A7F00C833F91}" type="datetimeFigureOut">
              <a:rPr lang="en-US" smtClean="0"/>
              <a:t>20/02/2025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43003-200D-18EF-1190-773745D0D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746A6-9E22-1507-E37F-F5A197B03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69EDA-60C2-47AB-8EA5-645E741D1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3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E3A3E-6D8E-A186-45A9-02BC14009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7D5A6-0A74-D198-D930-0E8E2BA64C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79711-2616-488B-D49E-ABC929376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BCABC-6C40-F570-E6E7-49D83E1CE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8A80-6C80-41BE-95FE-A7F00C833F91}" type="datetimeFigureOut">
              <a:rPr lang="en-US" smtClean="0"/>
              <a:t>20/02/2025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3F598-2B57-EEEE-BEF7-683CA58A4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78528-959C-0F22-A4FD-688E37BA4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69EDA-60C2-47AB-8EA5-645E741D1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250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A8A94-71B4-91AB-0F54-1469E9994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92A3B-957E-2CB1-68F9-3AE5F8EFD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D363A-C8FD-CCDE-6076-1452BDADA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C868A7-17B0-1DEE-5255-341912DA33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F8D449-0CBD-115C-9697-B9DCE9158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CDE950-FD7B-278A-2ABD-23BA396F2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8A80-6C80-41BE-95FE-A7F00C833F91}" type="datetimeFigureOut">
              <a:rPr lang="en-US" smtClean="0"/>
              <a:t>20/02/2025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1A5A72-232A-0284-C2AD-21B146E5B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21DB17-CFEA-6F61-4CBA-1B15023AB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69EDA-60C2-47AB-8EA5-645E741D1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313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39625-B23F-CAF6-DF52-01DE7D91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0BFDC-1243-5F03-D4C2-AFE36CF0F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8A80-6C80-41BE-95FE-A7F00C833F91}" type="datetimeFigureOut">
              <a:rPr lang="en-US" smtClean="0"/>
              <a:t>20/02/2025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F0DA04-0065-1D89-6288-0B116082C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08DF6-37CF-1CB8-4856-EC83BB0D3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69EDA-60C2-47AB-8EA5-645E741D1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44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837FEF-DB7D-8BDB-ADCA-E0B6A78A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8A80-6C80-41BE-95FE-A7F00C833F91}" type="datetimeFigureOut">
              <a:rPr lang="en-US" smtClean="0"/>
              <a:t>20/02/2025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BCDCFD-A086-E27E-709E-93D89F82F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79539-C949-E874-C734-D1A934FDB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69EDA-60C2-47AB-8EA5-645E741D1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02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99F7-10CC-99D6-FD0D-4313F81B7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2D0C1-B507-DEB5-1CF0-97C6FDB70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45AA7-6EB4-5662-B3A5-F4884AEAF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C394D-BC44-D35E-7557-D8B9A0064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8A80-6C80-41BE-95FE-A7F00C833F91}" type="datetimeFigureOut">
              <a:rPr lang="en-US" smtClean="0"/>
              <a:t>20/02/2025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6EB1F-F14E-CD03-2796-8D2DDADD8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D56F9-D74E-D9F5-211D-614FE3123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69EDA-60C2-47AB-8EA5-645E741D1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54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675F2-1181-FD25-CE97-3CC1D9968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17CDC4-861F-B3A0-50F9-4DB1B7E56E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75DBDC-F75C-AAD4-F9CB-BA61ADBD1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7416F-FBF2-1D0E-1514-3583F6F7D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8A80-6C80-41BE-95FE-A7F00C833F91}" type="datetimeFigureOut">
              <a:rPr lang="en-US" smtClean="0"/>
              <a:t>20/02/2025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FA3C0-16C4-BEB7-BBCE-8C3302FE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76101-27D4-2498-707F-DF72EF39A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69EDA-60C2-47AB-8EA5-645E741D1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47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3B015-664E-E75F-4AD8-8572EE901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ED007-7E23-D1E1-6ED3-BC30471E9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3CBAB-C40F-0AEF-25CF-83C28CFF0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8A80-6C80-41BE-95FE-A7F00C833F91}" type="datetimeFigureOut">
              <a:rPr lang="en-US" smtClean="0"/>
              <a:t>20/02/2025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C34A8-6CA4-8EA9-5741-6DD7F7076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246A3-20B2-7417-DE7D-3CA04B634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69EDA-60C2-47AB-8EA5-645E741D1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74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D3D2E9-BD66-8D24-521A-1B96B798FB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E7577B-1CF9-D0E3-0A69-AA501ED4D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9827A-EC31-62A0-E357-F40C0791F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C8A80-6C80-41BE-95FE-A7F00C833F91}" type="datetimeFigureOut">
              <a:rPr lang="en-US" smtClean="0"/>
              <a:t>20/02/2025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C7C29-0BD0-F52B-1D0A-051A47E0B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74D1D-FCD1-2916-D223-CB629A4C6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69EDA-60C2-47AB-8EA5-645E741D1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9E234C-90D1-5D90-2A4D-5A97B6141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8538C-BAF1-4F21-9135-FC6D21E64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74589-7EEA-EDC2-2D86-2F5BAB400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C8A80-6C80-41BE-95FE-A7F00C833F91}" type="datetimeFigureOut">
              <a:rPr lang="en-US" smtClean="0"/>
              <a:t>20/02/2025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1F936-4E6B-E394-16F8-F5457DACB4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B75F6-9D61-7762-C575-C9AD5FCF5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69EDA-60C2-47AB-8EA5-645E741D1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386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5346-F185-5FDA-6049-7870D677E4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118" y="877240"/>
            <a:ext cx="11265763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Accuracy, Precision, Recall </a:t>
            </a:r>
            <a:r>
              <a:rPr lang="en-US" dirty="0" err="1"/>
              <a:t>và</a:t>
            </a:r>
            <a:r>
              <a:rPr lang="en-US" dirty="0"/>
              <a:t> F1 </a:t>
            </a:r>
            <a:r>
              <a:rPr lang="en-US" dirty="0" err="1"/>
              <a:t>giữa</a:t>
            </a:r>
            <a:r>
              <a:rPr lang="en-US" dirty="0"/>
              <a:t> 4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Decision Tree, Logistic Regression, SVM Kernal </a:t>
            </a:r>
            <a:r>
              <a:rPr lang="en-US" dirty="0" err="1"/>
              <a:t>và</a:t>
            </a:r>
            <a:r>
              <a:rPr lang="en-US" dirty="0"/>
              <a:t> MLP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Breast Cancer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CB3B92-8984-4219-B1DE-13AD0C589A90}"/>
              </a:ext>
            </a:extLst>
          </p:cNvPr>
          <p:cNvSpPr txBox="1"/>
          <p:nvPr/>
        </p:nvSpPr>
        <p:spPr>
          <a:xfrm>
            <a:off x="3950563" y="4021583"/>
            <a:ext cx="5193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Arial (Body)"/>
              </a:rPr>
              <a:t>Học</a:t>
            </a:r>
            <a:r>
              <a:rPr lang="en-US" sz="2800" dirty="0">
                <a:latin typeface="Arial (Body)"/>
              </a:rPr>
              <a:t> </a:t>
            </a:r>
            <a:r>
              <a:rPr lang="en-US" sz="2800" dirty="0" err="1">
                <a:latin typeface="Arial (Body)"/>
              </a:rPr>
              <a:t>viên</a:t>
            </a:r>
            <a:r>
              <a:rPr lang="en-US" sz="2800" dirty="0">
                <a:latin typeface="Arial (Body)"/>
              </a:rPr>
              <a:t>: Chu Quang Khánh  </a:t>
            </a:r>
          </a:p>
          <a:p>
            <a:r>
              <a:rPr lang="en-US" sz="2800" dirty="0" err="1">
                <a:latin typeface="Arial (Body)"/>
              </a:rPr>
              <a:t>Mã</a:t>
            </a:r>
            <a:r>
              <a:rPr lang="en-US" sz="2800" dirty="0">
                <a:latin typeface="Arial (Body)"/>
              </a:rPr>
              <a:t> </a:t>
            </a:r>
            <a:r>
              <a:rPr lang="en-US" sz="2800" dirty="0" err="1">
                <a:latin typeface="Arial (Body)"/>
              </a:rPr>
              <a:t>học</a:t>
            </a:r>
            <a:r>
              <a:rPr lang="en-US" sz="2800" dirty="0">
                <a:latin typeface="Arial (Body)"/>
              </a:rPr>
              <a:t> </a:t>
            </a:r>
            <a:r>
              <a:rPr lang="en-US" sz="2800" dirty="0" err="1">
                <a:latin typeface="Arial (Body)"/>
              </a:rPr>
              <a:t>viên</a:t>
            </a:r>
            <a:r>
              <a:rPr lang="en-US" sz="2800" dirty="0">
                <a:latin typeface="Arial (Body)"/>
              </a:rPr>
              <a:t>: 240101050</a:t>
            </a:r>
          </a:p>
          <a:p>
            <a:endParaRPr lang="en-US" sz="2800" dirty="0">
              <a:latin typeface="Arial (Body)"/>
            </a:endParaRPr>
          </a:p>
          <a:p>
            <a:r>
              <a:rPr lang="en-US" sz="2800" dirty="0" err="1">
                <a:latin typeface="Arial (Body)"/>
              </a:rPr>
              <a:t>Gỉang</a:t>
            </a:r>
            <a:r>
              <a:rPr lang="en-US" sz="2800" dirty="0">
                <a:latin typeface="Arial (Body)"/>
              </a:rPr>
              <a:t> </a:t>
            </a:r>
            <a:r>
              <a:rPr lang="en-US" sz="2800" dirty="0" err="1">
                <a:latin typeface="Arial (Body)"/>
              </a:rPr>
              <a:t>viên</a:t>
            </a:r>
            <a:r>
              <a:rPr lang="en-US" sz="2800" dirty="0">
                <a:latin typeface="Arial (Body)"/>
              </a:rPr>
              <a:t>: TS. Lê Minh </a:t>
            </a:r>
            <a:r>
              <a:rPr lang="en-US" sz="2800" dirty="0" err="1">
                <a:latin typeface="Arial (Body)"/>
              </a:rPr>
              <a:t>Hưng</a:t>
            </a:r>
            <a:endParaRPr lang="en-US" sz="2800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2455410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907C7-E6CA-4BB1-C1E9-000D66140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B9FD1-B93F-B718-7690-3061DD30A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769615" y="83599"/>
            <a:ext cx="9144000" cy="1123687"/>
          </a:xfrm>
        </p:spPr>
        <p:txBody>
          <a:bodyPr/>
          <a:lstStyle/>
          <a:p>
            <a:r>
              <a:rPr lang="en-US" dirty="0" err="1"/>
              <a:t>Dicission</a:t>
            </a:r>
            <a:r>
              <a:rPr lang="en-US" dirty="0"/>
              <a:t> Tree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062C83-889F-A95C-B888-327CBF758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724" y="1207286"/>
            <a:ext cx="3968318" cy="2221714"/>
          </a:xfrm>
        </p:spPr>
        <p:txBody>
          <a:bodyPr>
            <a:normAutofit/>
          </a:bodyPr>
          <a:lstStyle/>
          <a:p>
            <a:r>
              <a:rPr lang="en-US" dirty="0"/>
              <a:t>Accuracy: 0.94</a:t>
            </a:r>
          </a:p>
          <a:p>
            <a:r>
              <a:rPr lang="en-US" dirty="0"/>
              <a:t>Precision: 0.88</a:t>
            </a:r>
          </a:p>
          <a:p>
            <a:r>
              <a:rPr lang="en-US" dirty="0"/>
              <a:t>Recall: 0.95</a:t>
            </a:r>
          </a:p>
          <a:p>
            <a:r>
              <a:rPr lang="en-US" dirty="0"/>
              <a:t>F1-score: 0.92</a:t>
            </a:r>
          </a:p>
          <a:p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4D631BB-21D2-F7A5-33FE-61E1E55C4FCD}"/>
              </a:ext>
            </a:extLst>
          </p:cNvPr>
          <p:cNvSpPr txBox="1">
            <a:spLocks/>
          </p:cNvSpPr>
          <p:nvPr/>
        </p:nvSpPr>
        <p:spPr>
          <a:xfrm>
            <a:off x="7031114" y="1207286"/>
            <a:ext cx="3968318" cy="222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Accuracy: 0.93</a:t>
            </a:r>
          </a:p>
          <a:p>
            <a:r>
              <a:rPr lang="en-US" dirty="0"/>
              <a:t>Precision: 0.95</a:t>
            </a:r>
          </a:p>
          <a:p>
            <a:r>
              <a:rPr lang="en-US" dirty="0"/>
              <a:t>Recall: 0.86</a:t>
            </a:r>
          </a:p>
          <a:p>
            <a:r>
              <a:rPr lang="en-US" dirty="0"/>
              <a:t>F1-Score: 0.90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7C21666-E4A7-16F0-4804-F204EE81A145}"/>
              </a:ext>
            </a:extLst>
          </p:cNvPr>
          <p:cNvSpPr txBox="1">
            <a:spLocks/>
          </p:cNvSpPr>
          <p:nvPr/>
        </p:nvSpPr>
        <p:spPr>
          <a:xfrm>
            <a:off x="4152185" y="74644"/>
            <a:ext cx="9144000" cy="11236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Logistic Regression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CE504AC-346C-3FA2-C359-B48C033056CE}"/>
              </a:ext>
            </a:extLst>
          </p:cNvPr>
          <p:cNvSpPr txBox="1">
            <a:spLocks/>
          </p:cNvSpPr>
          <p:nvPr/>
        </p:nvSpPr>
        <p:spPr>
          <a:xfrm>
            <a:off x="-1769615" y="3441130"/>
            <a:ext cx="9144000" cy="11236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MLP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D590BE-24FC-7A40-4ADB-A73035DCCD31}"/>
              </a:ext>
            </a:extLst>
          </p:cNvPr>
          <p:cNvSpPr txBox="1">
            <a:spLocks/>
          </p:cNvSpPr>
          <p:nvPr/>
        </p:nvSpPr>
        <p:spPr>
          <a:xfrm>
            <a:off x="745724" y="4564817"/>
            <a:ext cx="3968318" cy="222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Accuracy: 0.9737</a:t>
            </a:r>
          </a:p>
          <a:p>
            <a:r>
              <a:rPr lang="en-US" dirty="0"/>
              <a:t>Precision: 0.9762</a:t>
            </a:r>
          </a:p>
          <a:p>
            <a:r>
              <a:rPr lang="en-US" dirty="0"/>
              <a:t>Recall: 0.9535</a:t>
            </a:r>
          </a:p>
          <a:p>
            <a:r>
              <a:rPr lang="en-US" dirty="0"/>
              <a:t>F1-score: 0.9647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34A4F00-3378-06F0-9311-BA9966A20446}"/>
              </a:ext>
            </a:extLst>
          </p:cNvPr>
          <p:cNvSpPr txBox="1">
            <a:spLocks/>
          </p:cNvSpPr>
          <p:nvPr/>
        </p:nvSpPr>
        <p:spPr>
          <a:xfrm>
            <a:off x="7031114" y="4576947"/>
            <a:ext cx="3968318" cy="222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Accuracy: 0.9766</a:t>
            </a:r>
          </a:p>
          <a:p>
            <a:r>
              <a:rPr lang="en-US" dirty="0"/>
              <a:t>Precision: 0.9683</a:t>
            </a:r>
          </a:p>
          <a:p>
            <a:r>
              <a:rPr lang="en-US" dirty="0"/>
              <a:t>Recall: 0.9683</a:t>
            </a:r>
          </a:p>
          <a:p>
            <a:r>
              <a:rPr lang="en-US" dirty="0"/>
              <a:t>F1-score: 0.9683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C356858-A690-203C-00A7-43D3D9852122}"/>
              </a:ext>
            </a:extLst>
          </p:cNvPr>
          <p:cNvSpPr txBox="1">
            <a:spLocks/>
          </p:cNvSpPr>
          <p:nvPr/>
        </p:nvSpPr>
        <p:spPr>
          <a:xfrm>
            <a:off x="4152185" y="3444305"/>
            <a:ext cx="9144000" cy="11236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SVM Kernel</a:t>
            </a:r>
          </a:p>
        </p:txBody>
      </p:sp>
    </p:spTree>
    <p:extLst>
      <p:ext uri="{BB962C8B-B14F-4D97-AF65-F5344CB8AC3E}">
        <p14:creationId xmlns:p14="http://schemas.microsoft.com/office/powerpoint/2010/main" val="1143313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A356C-24C3-F58B-DA88-F5B529A9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CF4959-1D78-517A-7727-B1F6F37A8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16" y="0"/>
            <a:ext cx="4705165" cy="33608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A63914-91BD-22E2-1C49-C42D21459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502" y="0"/>
            <a:ext cx="4800599" cy="3429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44A253-15A2-B479-FE16-20ADFC14F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16" y="3256835"/>
            <a:ext cx="4705165" cy="3528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E8CB48-C55C-9933-CC5D-5A547A7BEE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1278" y="3429000"/>
            <a:ext cx="411480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3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97981-A56B-8B6D-224F-601359A00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latin typeface="Arial (Body)"/>
              </a:rPr>
              <a:t>Đánh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giá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kết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quả</a:t>
            </a:r>
            <a:endParaRPr lang="en-US" dirty="0">
              <a:latin typeface="Arial (Body)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64565C-CD17-3CA7-3F65-2783B8D2F7D4}"/>
              </a:ext>
            </a:extLst>
          </p:cNvPr>
          <p:cNvSpPr txBox="1"/>
          <p:nvPr/>
        </p:nvSpPr>
        <p:spPr>
          <a:xfrm>
            <a:off x="665825" y="1482571"/>
            <a:ext cx="107597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/>
              <a:t>Decision Tree</a:t>
            </a:r>
            <a:endParaRPr lang="en-US" b="1" dirty="0"/>
          </a:p>
          <a:p>
            <a:r>
              <a:rPr lang="en-US" dirty="0"/>
              <a:t>- </a:t>
            </a:r>
            <a:r>
              <a:rPr lang="vi-VN" dirty="0"/>
              <a:t>Accuracy: 0.94 → Tương đối cao.</a:t>
            </a:r>
          </a:p>
          <a:p>
            <a:r>
              <a:rPr lang="en-US" dirty="0"/>
              <a:t>- </a:t>
            </a:r>
            <a:r>
              <a:rPr lang="vi-VN" dirty="0"/>
              <a:t>Precision: 0.88 → Dự đoán đúng ung thư ác tính (Malignant) ở mức trung bình.</a:t>
            </a:r>
          </a:p>
          <a:p>
            <a:r>
              <a:rPr lang="en-US" dirty="0"/>
              <a:t>- </a:t>
            </a:r>
            <a:r>
              <a:rPr lang="vi-VN" dirty="0"/>
              <a:t>Recall: 0.95 → Nhận diện ung thư ác tính khá tốt, ít bỏ sót.</a:t>
            </a:r>
            <a:endParaRPr lang="en-US" dirty="0"/>
          </a:p>
          <a:p>
            <a:r>
              <a:rPr lang="en-US" dirty="0"/>
              <a:t>- </a:t>
            </a:r>
            <a:r>
              <a:rPr lang="vi-VN" dirty="0"/>
              <a:t>F1-score: 0.92 → Cân bằng giữa precision và recall.</a:t>
            </a:r>
          </a:p>
          <a:p>
            <a:endParaRPr lang="en-US" dirty="0"/>
          </a:p>
          <a:p>
            <a:r>
              <a:rPr lang="vi-VN" b="1" dirty="0"/>
              <a:t>Nhận xét:</a:t>
            </a:r>
            <a:r>
              <a:rPr lang="vi-VN" dirty="0"/>
              <a:t> Decision Tree có khả năng tổng quát tốt nhưng precision hơi thấp, có thể do bị overfitting với dữ liệu huấn luyện.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25390F-3A49-645A-49E4-82D46978FA53}"/>
              </a:ext>
            </a:extLst>
          </p:cNvPr>
          <p:cNvSpPr txBox="1"/>
          <p:nvPr/>
        </p:nvSpPr>
        <p:spPr>
          <a:xfrm>
            <a:off x="594064" y="4012707"/>
            <a:ext cx="107597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(Body)"/>
              </a:rPr>
              <a:t>Logistic Regression</a:t>
            </a:r>
          </a:p>
          <a:p>
            <a:r>
              <a:rPr lang="en-US" dirty="0">
                <a:latin typeface="Arial (Body)"/>
              </a:rPr>
              <a:t>- Accuracy: 0.93 </a:t>
            </a:r>
            <a:r>
              <a:rPr lang="vi-VN" dirty="0">
                <a:latin typeface="Arial (Body)"/>
              </a:rPr>
              <a:t>→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Gần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bằng</a:t>
            </a:r>
            <a:r>
              <a:rPr lang="en-US" dirty="0">
                <a:latin typeface="Arial (Body)"/>
              </a:rPr>
              <a:t> Decision Tree</a:t>
            </a:r>
            <a:r>
              <a:rPr lang="vi-VN" dirty="0">
                <a:latin typeface="Arial (Body)"/>
              </a:rPr>
              <a:t>.</a:t>
            </a:r>
          </a:p>
          <a:p>
            <a:r>
              <a:rPr lang="en-US" dirty="0">
                <a:latin typeface="Arial (Body)"/>
              </a:rPr>
              <a:t>- </a:t>
            </a:r>
            <a:r>
              <a:rPr lang="vi-VN" dirty="0">
                <a:latin typeface="Arial (Body)"/>
              </a:rPr>
              <a:t>Precision: 0.95 → Dự đoán đúng ung thư ác tính cao hơn Decision Tree.</a:t>
            </a:r>
          </a:p>
          <a:p>
            <a:r>
              <a:rPr lang="en-US" dirty="0">
                <a:latin typeface="Arial (Body)"/>
              </a:rPr>
              <a:t>- </a:t>
            </a:r>
            <a:r>
              <a:rPr lang="vi-VN" dirty="0">
                <a:latin typeface="Arial (Body)"/>
              </a:rPr>
              <a:t>Recall: 0.86 → Nhận diện ung thư ác tính thấp hơn Decision Tree, có nguy cơ bỏ sót bệnh nhân.</a:t>
            </a:r>
            <a:endParaRPr lang="en-US" dirty="0">
              <a:latin typeface="Arial (Body)"/>
            </a:endParaRPr>
          </a:p>
          <a:p>
            <a:r>
              <a:rPr lang="en-US" dirty="0">
                <a:latin typeface="Arial (Body)"/>
              </a:rPr>
              <a:t>- </a:t>
            </a:r>
            <a:r>
              <a:rPr lang="vi-VN" dirty="0">
                <a:latin typeface="Arial (Body)"/>
              </a:rPr>
              <a:t>F1-score: 0.90 → Tương đối cân bằng.</a:t>
            </a:r>
          </a:p>
          <a:p>
            <a:endParaRPr lang="en-US" dirty="0">
              <a:latin typeface="Arial (Body)"/>
            </a:endParaRPr>
          </a:p>
          <a:p>
            <a:r>
              <a:rPr lang="vi-VN" b="1" dirty="0">
                <a:latin typeface="Arial (Body)"/>
              </a:rPr>
              <a:t>Nhận xét:</a:t>
            </a:r>
            <a:r>
              <a:rPr lang="vi-VN" dirty="0">
                <a:latin typeface="Arial (Body)"/>
              </a:rPr>
              <a:t> Mô hình này có precision cao nhưng recall thấp hơn Decision Tree.</a:t>
            </a:r>
            <a:endParaRPr lang="en-US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1898431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18D58-84B0-39D8-C480-535CF8FEC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7D714-DE7B-9464-B6B7-127213EFB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latin typeface="Arial (Body)"/>
              </a:rPr>
              <a:t>Đánh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giá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kết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quả</a:t>
            </a:r>
            <a:endParaRPr lang="en-US" dirty="0">
              <a:latin typeface="Arial (Body)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1ECC34-233B-14D4-F6EC-F5EC69CFA568}"/>
              </a:ext>
            </a:extLst>
          </p:cNvPr>
          <p:cNvSpPr txBox="1"/>
          <p:nvPr/>
        </p:nvSpPr>
        <p:spPr>
          <a:xfrm>
            <a:off x="665825" y="1482571"/>
            <a:ext cx="107597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(Body)"/>
              </a:rPr>
              <a:t>MLP</a:t>
            </a:r>
          </a:p>
          <a:p>
            <a:r>
              <a:rPr lang="en-US" dirty="0">
                <a:latin typeface="Arial (Body)"/>
              </a:rPr>
              <a:t>- </a:t>
            </a:r>
            <a:r>
              <a:rPr lang="vi-VN" dirty="0">
                <a:latin typeface="Arial (Body)"/>
              </a:rPr>
              <a:t>Accuracy: 0.9737 → Cao hơn hẳn Decision Tree và Logistic Regression.</a:t>
            </a:r>
          </a:p>
          <a:p>
            <a:r>
              <a:rPr lang="en-US" dirty="0">
                <a:latin typeface="Arial (Body)"/>
              </a:rPr>
              <a:t>- </a:t>
            </a:r>
            <a:r>
              <a:rPr lang="vi-VN" dirty="0">
                <a:latin typeface="Arial (Body)"/>
              </a:rPr>
              <a:t>Precision: 0.9762 → Dự đoán chính xác ung thư ác tính rất tốt.</a:t>
            </a:r>
          </a:p>
          <a:p>
            <a:r>
              <a:rPr lang="en-US" dirty="0">
                <a:latin typeface="Arial (Body)"/>
              </a:rPr>
              <a:t>- </a:t>
            </a:r>
            <a:r>
              <a:rPr lang="vi-VN" dirty="0">
                <a:latin typeface="Arial (Body)"/>
              </a:rPr>
              <a:t>Recall: 0.9535 → Khả năng nhận diện ung thư ác tính cao.</a:t>
            </a:r>
            <a:endParaRPr lang="en-US" dirty="0">
              <a:latin typeface="Arial (Body)"/>
            </a:endParaRPr>
          </a:p>
          <a:p>
            <a:r>
              <a:rPr lang="en-US" dirty="0">
                <a:latin typeface="Arial (Body)"/>
              </a:rPr>
              <a:t>- F1-score: 0.9647 → </a:t>
            </a:r>
            <a:r>
              <a:rPr lang="en-US" dirty="0" err="1">
                <a:latin typeface="Arial (Body)"/>
              </a:rPr>
              <a:t>Cân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bằng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giữa</a:t>
            </a:r>
            <a:r>
              <a:rPr lang="en-US" dirty="0">
                <a:latin typeface="Arial (Body)"/>
              </a:rPr>
              <a:t> precision </a:t>
            </a:r>
            <a:r>
              <a:rPr lang="en-US" dirty="0" err="1">
                <a:latin typeface="Arial (Body)"/>
              </a:rPr>
              <a:t>và</a:t>
            </a:r>
            <a:r>
              <a:rPr lang="en-US" dirty="0">
                <a:latin typeface="Arial (Body)"/>
              </a:rPr>
              <a:t> recall</a:t>
            </a:r>
            <a:r>
              <a:rPr lang="vi-VN" dirty="0">
                <a:latin typeface="Arial (Body)"/>
              </a:rPr>
              <a:t>.</a:t>
            </a:r>
          </a:p>
          <a:p>
            <a:endParaRPr lang="en-US" dirty="0">
              <a:latin typeface="Arial (Body)"/>
            </a:endParaRPr>
          </a:p>
          <a:p>
            <a:r>
              <a:rPr lang="vi-VN" b="1" dirty="0">
                <a:latin typeface="Arial (Body)"/>
              </a:rPr>
              <a:t>Nhận xét</a:t>
            </a:r>
            <a:r>
              <a:rPr lang="vi-VN" dirty="0">
                <a:latin typeface="Arial (Body)"/>
              </a:rPr>
              <a:t>: </a:t>
            </a:r>
            <a:r>
              <a:rPr lang="en-US" dirty="0">
                <a:latin typeface="Arial (Body)"/>
              </a:rPr>
              <a:t>MLP </a:t>
            </a:r>
            <a:r>
              <a:rPr lang="en-US" dirty="0" err="1">
                <a:latin typeface="Arial (Body)"/>
              </a:rPr>
              <a:t>hoạt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động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rất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tốt</a:t>
            </a:r>
            <a:r>
              <a:rPr lang="en-US" dirty="0">
                <a:latin typeface="Arial (Body)"/>
              </a:rPr>
              <a:t>, </a:t>
            </a:r>
            <a:r>
              <a:rPr lang="en-US" dirty="0" err="1">
                <a:latin typeface="Arial (Body)"/>
              </a:rPr>
              <a:t>có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khả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năng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tổng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quát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cao</a:t>
            </a:r>
            <a:r>
              <a:rPr lang="en-US" dirty="0">
                <a:latin typeface="Arial (Body)"/>
              </a:rPr>
              <a:t>, </a:t>
            </a:r>
            <a:r>
              <a:rPr lang="en-US" dirty="0" err="1">
                <a:latin typeface="Arial (Body)"/>
              </a:rPr>
              <a:t>ít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bỏ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sót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bệnh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nhân</a:t>
            </a:r>
            <a:r>
              <a:rPr lang="vi-VN" dirty="0">
                <a:latin typeface="Arial (Body)"/>
              </a:rPr>
              <a:t>.</a:t>
            </a:r>
            <a:endParaRPr lang="en-US" dirty="0">
              <a:latin typeface="Arial (Body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8AAEE0-D2B4-99E1-B21E-4336C088A1E9}"/>
              </a:ext>
            </a:extLst>
          </p:cNvPr>
          <p:cNvSpPr txBox="1"/>
          <p:nvPr/>
        </p:nvSpPr>
        <p:spPr>
          <a:xfrm>
            <a:off x="594064" y="4012707"/>
            <a:ext cx="107597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(Body)"/>
              </a:rPr>
              <a:t>SVM Kernel</a:t>
            </a:r>
          </a:p>
          <a:p>
            <a:r>
              <a:rPr lang="en-US" dirty="0">
                <a:latin typeface="Arial (Body)"/>
              </a:rPr>
              <a:t>- Accuracy: 0.9766 → Cao </a:t>
            </a:r>
            <a:r>
              <a:rPr lang="en-US" dirty="0" err="1">
                <a:latin typeface="Arial (Body)"/>
              </a:rPr>
              <a:t>nhất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trong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tất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cả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các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mô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hình</a:t>
            </a:r>
            <a:r>
              <a:rPr lang="vi-VN" dirty="0">
                <a:latin typeface="Arial (Body)"/>
              </a:rPr>
              <a:t>.</a:t>
            </a:r>
          </a:p>
          <a:p>
            <a:r>
              <a:rPr lang="en-US" dirty="0">
                <a:latin typeface="Arial (Body)"/>
              </a:rPr>
              <a:t>- </a:t>
            </a:r>
            <a:r>
              <a:rPr lang="vi-VN" dirty="0">
                <a:latin typeface="Arial (Body)"/>
              </a:rPr>
              <a:t>Precision: 0.9683 → Precision rất cao, ít dự đoán nhầm bệnh nhân là ung thư ác tính.</a:t>
            </a:r>
          </a:p>
          <a:p>
            <a:r>
              <a:rPr lang="en-US" dirty="0">
                <a:latin typeface="Arial (Body)"/>
              </a:rPr>
              <a:t>- </a:t>
            </a:r>
            <a:r>
              <a:rPr lang="vi-VN" dirty="0">
                <a:latin typeface="Arial (Body)"/>
              </a:rPr>
              <a:t>Recall: 0.9683 → Nhận diện ung thư ác tính tốt, không bỏ sót bệnh nhân.</a:t>
            </a:r>
            <a:endParaRPr lang="en-US" dirty="0">
              <a:latin typeface="Arial (Body)"/>
            </a:endParaRPr>
          </a:p>
          <a:p>
            <a:r>
              <a:rPr lang="en-US" dirty="0">
                <a:latin typeface="Arial (Body)"/>
              </a:rPr>
              <a:t>- F1-score: 0.9683 → </a:t>
            </a:r>
            <a:r>
              <a:rPr lang="en-US" dirty="0" err="1">
                <a:latin typeface="Arial (Body)"/>
              </a:rPr>
              <a:t>Cân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bằng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tốt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giữa</a:t>
            </a:r>
            <a:r>
              <a:rPr lang="en-US" dirty="0">
                <a:latin typeface="Arial (Body)"/>
              </a:rPr>
              <a:t> precision </a:t>
            </a:r>
            <a:r>
              <a:rPr lang="en-US" dirty="0" err="1">
                <a:latin typeface="Arial (Body)"/>
              </a:rPr>
              <a:t>và</a:t>
            </a:r>
            <a:r>
              <a:rPr lang="en-US" dirty="0">
                <a:latin typeface="Arial (Body)"/>
              </a:rPr>
              <a:t> recall</a:t>
            </a:r>
            <a:r>
              <a:rPr lang="vi-VN" dirty="0">
                <a:latin typeface="Arial (Body)"/>
              </a:rPr>
              <a:t>.</a:t>
            </a:r>
          </a:p>
          <a:p>
            <a:endParaRPr lang="en-US" dirty="0">
              <a:latin typeface="Arial (Body)"/>
            </a:endParaRPr>
          </a:p>
          <a:p>
            <a:r>
              <a:rPr lang="vi-VN" b="1" dirty="0">
                <a:latin typeface="Arial (Body)"/>
              </a:rPr>
              <a:t>Nhận xét</a:t>
            </a:r>
            <a:r>
              <a:rPr lang="vi-VN" dirty="0">
                <a:latin typeface="Arial (Body)"/>
              </a:rPr>
              <a:t>: </a:t>
            </a:r>
            <a:r>
              <a:rPr lang="en-US" dirty="0">
                <a:latin typeface="Arial (Body)"/>
              </a:rPr>
              <a:t>SVM Kernel </a:t>
            </a:r>
            <a:r>
              <a:rPr lang="en-US" dirty="0" err="1">
                <a:latin typeface="Arial (Body)"/>
              </a:rPr>
              <a:t>có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hiệu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suất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tốt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nhất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với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độ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chính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xác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cao</a:t>
            </a:r>
            <a:r>
              <a:rPr lang="en-US" dirty="0">
                <a:latin typeface="Arial (Body)"/>
              </a:rPr>
              <a:t>, </a:t>
            </a:r>
            <a:r>
              <a:rPr lang="en-US" dirty="0" err="1">
                <a:latin typeface="Arial (Body)"/>
              </a:rPr>
              <a:t>ít</a:t>
            </a:r>
            <a:r>
              <a:rPr lang="en-US" dirty="0">
                <a:latin typeface="Arial (Body)"/>
              </a:rPr>
              <a:t> FN </a:t>
            </a:r>
            <a:r>
              <a:rPr lang="en-US" dirty="0" err="1">
                <a:latin typeface="Arial (Body)"/>
              </a:rPr>
              <a:t>và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ít</a:t>
            </a:r>
            <a:r>
              <a:rPr lang="en-US" dirty="0">
                <a:latin typeface="Arial (Body)"/>
              </a:rPr>
              <a:t> FP. </a:t>
            </a:r>
            <a:r>
              <a:rPr lang="en-US" dirty="0" err="1">
                <a:latin typeface="Arial (Body)"/>
              </a:rPr>
              <a:t>Đây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có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thể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là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mô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hình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phù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hợp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nhất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cho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bài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toán</a:t>
            </a:r>
            <a:r>
              <a:rPr lang="en-US" dirty="0">
                <a:latin typeface="Arial (Body)"/>
              </a:rPr>
              <a:t> </a:t>
            </a:r>
            <a:r>
              <a:rPr lang="en-US" dirty="0" err="1">
                <a:latin typeface="Arial (Body)"/>
              </a:rPr>
              <a:t>này</a:t>
            </a:r>
            <a:r>
              <a:rPr lang="vi-VN" dirty="0">
                <a:latin typeface="Arial (Body)"/>
              </a:rPr>
              <a:t>.</a:t>
            </a:r>
            <a:endParaRPr lang="en-US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1093929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466</Words>
  <Application>Microsoft Office PowerPoint</Application>
  <PresentationFormat>Widescreen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(Body)</vt:lpstr>
      <vt:lpstr>Calibri</vt:lpstr>
      <vt:lpstr>Calibri Light</vt:lpstr>
      <vt:lpstr>Office Theme</vt:lpstr>
      <vt:lpstr>So sánh các chỉ số Accuracy, Precision, Recall và F1 giữa 4 mô hình Decision Tree, Logistic Regression, SVM Kernal và MLP từ bộ dữ liệu Breast Cancer</vt:lpstr>
      <vt:lpstr>Dicission Tree</vt:lpstr>
      <vt:lpstr>PowerPoint Presentation</vt:lpstr>
      <vt:lpstr>Đánh giá kết quả</vt:lpstr>
      <vt:lpstr>Đánh giá kết quả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Khánh Driger</dc:creator>
  <cp:lastModifiedBy>Khánh Driger</cp:lastModifiedBy>
  <cp:revision>9</cp:revision>
  <dcterms:created xsi:type="dcterms:W3CDTF">2025-02-19T16:53:19Z</dcterms:created>
  <dcterms:modified xsi:type="dcterms:W3CDTF">2025-02-20T15:14:21Z</dcterms:modified>
</cp:coreProperties>
</file>